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Canva Sans Bold" charset="1" panose="020B0803030501040103"/>
      <p:regular r:id="rId34"/>
    </p:embeddedFont>
    <p:embeddedFont>
      <p:font typeface="Canva Sans" charset="1" panose="020B0503030501040103"/>
      <p:regular r:id="rId35"/>
    </p:embeddedFont>
    <p:embeddedFont>
      <p:font typeface="Canva Sans Medium" charset="1" panose="020B0603030501040103"/>
      <p:regular r:id="rId36"/>
    </p:embeddedFont>
    <p:embeddedFont>
      <p:font typeface="Canva Sans Bold Italics" charset="1" panose="020B0803030501040103"/>
      <p:regular r:id="rId37"/>
    </p:embeddedFont>
    <p:embeddedFont>
      <p:font typeface="Canva Sans Italics" charset="1" panose="020B0503030501040103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notesMasters/notesMaster1.xml" Type="http://schemas.openxmlformats.org/officeDocument/2006/relationships/notesMaster"/><Relationship Id="rId4" Target="theme/theme1.xml" Type="http://schemas.openxmlformats.org/officeDocument/2006/relationships/theme"/><Relationship Id="rId40" Target="theme/theme2.xml" Type="http://schemas.openxmlformats.org/officeDocument/2006/relationships/theme"/><Relationship Id="rId41" Target="notesSlides/notesSlide1.xml" Type="http://schemas.openxmlformats.org/officeDocument/2006/relationships/notesSlide"/><Relationship Id="rId42" Target="notesSlides/notesSlide2.xml" Type="http://schemas.openxmlformats.org/officeDocument/2006/relationships/notesSlide"/><Relationship Id="rId43" Target="notesSlides/notesSlide3.xml" Type="http://schemas.openxmlformats.org/officeDocument/2006/relationships/notesSlide"/><Relationship Id="rId44" Target="notesSlides/notesSlide4.xml" Type="http://schemas.openxmlformats.org/officeDocument/2006/relationships/notesSlide"/><Relationship Id="rId45" Target="notesSlides/notesSlide5.xml" Type="http://schemas.openxmlformats.org/officeDocument/2006/relationships/notesSlide"/><Relationship Id="rId46" Target="notesSlides/notesSlide6.xml" Type="http://schemas.openxmlformats.org/officeDocument/2006/relationships/notesSlide"/><Relationship Id="rId47" Target="notesSlides/notesSlide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Results &amp; Analysis: This is the most important section. Do not just display numbers or</a:t>
            </a:r>
          </a:p>
          <a:p>
            <a:r>
              <a:rPr lang="en-US"/>
              <a:t>confusion matrices. Explain how your results answer each research question. Compare</a:t>
            </a:r>
          </a:p>
          <a:p>
            <a:r>
              <a:rPr lang="en-US"/>
              <a:t>your findings with your stated objectives and, where appropriate, with existing work from the literature. Discuss whether your results support or contradict your expectations.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ABi-GRU successfully learned to classify known attack types before zero-day began, MEANING that any failure on zero-day detection is due to the detection layer, not the base classifier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ABi-GRU successfully learned to classify known attack types before zero-day began, MEANING that any failure on zero-day detection is due to the detection layer, not the base classifier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ABi-GRU successfully learned to classify known attack types before zero-day began, MEANING that any failure on zero-day detection is due to the detection layer, not the base classifier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ABi-GRU successfully learned to classify known attack types before zero-day began, MEANING that any failure on zero-day detection is due to the detection layer, not the base classifier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ABi-GRU successfully learned to classify known attack types before zero-day began, MEANING that any failure on zero-day detection is due to the detection layer, not the base classifier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ABi-GRU successfully learned to classify known attack types before zero-day began, MEANING that any failure on zero-day detection is due to the detection layer, not the base classifier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i.org/10.1007/s10207-023-00676-0" TargetMode="External" Type="http://schemas.openxmlformats.org/officeDocument/2006/relationships/hyperlink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637304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33475" y="1028700"/>
            <a:ext cx="990588" cy="830856"/>
          </a:xfrm>
          <a:custGeom>
            <a:avLst/>
            <a:gdLst/>
            <a:ahLst/>
            <a:cxnLst/>
            <a:rect r="r" b="b" t="t" l="l"/>
            <a:pathLst>
              <a:path h="830856" w="990588">
                <a:moveTo>
                  <a:pt x="0" y="0"/>
                </a:moveTo>
                <a:lnTo>
                  <a:pt x="990588" y="0"/>
                </a:lnTo>
                <a:lnTo>
                  <a:pt x="990588" y="830856"/>
                </a:lnTo>
                <a:lnTo>
                  <a:pt x="0" y="830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5892" y="3506616"/>
            <a:ext cx="16936215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b="true" sz="4199" spc="781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 Empirical Evaluation of K-Means-Based Outlier Detection for Zero-Day Intrusion Detection in Industrial IoT Networks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335294" y="2684194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8" y="0"/>
                </a:lnTo>
                <a:lnTo>
                  <a:pt x="1933418" y="439853"/>
                </a:lnTo>
                <a:lnTo>
                  <a:pt x="0" y="4398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41683" y="1273456"/>
            <a:ext cx="581504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Asian University for Women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82215" y="1235356"/>
            <a:ext cx="377708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 Aug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9288" y="6194611"/>
            <a:ext cx="14249423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600" spc="4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PRESENTATION BY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81385" y="5607831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8" y="0"/>
                </a:lnTo>
                <a:lnTo>
                  <a:pt x="1933418" y="439853"/>
                </a:lnTo>
                <a:lnTo>
                  <a:pt x="0" y="4398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23355" y="8142157"/>
            <a:ext cx="2220516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Noushin Subah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220209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80685" y="8142157"/>
            <a:ext cx="232663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Nazhat Nashrah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220111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74751" y="8142157"/>
            <a:ext cx="2525217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Sarah Azam Khan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241008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809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541566"/>
            <a:ext cx="81153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WHAT IS ZERO DAY?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5190" y="2691765"/>
            <a:ext cx="17237620" cy="579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zero-day attack exploits a software or hardware vulnerability 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 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 no existing patch and no known signature for it. 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5E17EB"/>
                </a:solidFill>
                <a:latin typeface="Canva Sans"/>
                <a:ea typeface="Canva Sans"/>
                <a:cs typeface="Canva Sans"/>
                <a:sym typeface="Canva Sans"/>
              </a:rPr>
              <a:t>How do we detect something "unseen"?</a:t>
            </a: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⟶ </a:t>
            </a:r>
            <a:r>
              <a:rPr lang="en-US" sz="3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Zero Day Detection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Zero-day detection is the process of identifying malicious activity from such attacks 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without relying on prior labeled examples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flag 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behavior that 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deviates from what a system has learned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recognize as "normal" or "known."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ust 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 on the assumption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that the attack has never been seen before- rely on anomaly/outlier-based reasoning 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139723" y="9038374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809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541566"/>
            <a:ext cx="81153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SIGNIFICANCE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5190" y="2567940"/>
            <a:ext cx="17237620" cy="602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5331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Signature-based IDSs are </a:t>
            </a:r>
            <a:r>
              <a:rPr lang="en-US" b="true" sz="3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structurally incapable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of catching zero-day attacks, they can only flag what they already know.</a:t>
            </a:r>
          </a:p>
          <a:p>
            <a:pPr algn="l" marL="669285" indent="-334642" lvl="1">
              <a:lnSpc>
                <a:spcPts val="5331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</a:t>
            </a:r>
            <a:r>
              <a:rPr lang="en-US" b="true" sz="3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IIoT environments 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specifically (manufacturing, energy, healthcare, utilities), a missed detection  can cause </a:t>
            </a:r>
            <a:r>
              <a:rPr lang="en-US" b="true" sz="30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physical damage, operational downtime, and disruption of critical infrastructure.</a:t>
            </a:r>
          </a:p>
          <a:p>
            <a:pPr algn="l" marL="669285" indent="-334642" lvl="1">
              <a:lnSpc>
                <a:spcPts val="5331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IIoT n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tw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rks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ct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urally different ⟶  security tools built for conventional networks may cr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ate 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istent </a:t>
            </a:r>
            <a:r>
              <a:rPr lang="en-US" b="true" sz="3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blind spot that attackers exploit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669285" indent="-334642" lvl="1">
              <a:lnSpc>
                <a:spcPts val="5331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 attackers increasingly target indust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ial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ont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rol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ems, the cost of a delayed or missed zero-day detection scales from </a:t>
            </a:r>
            <a:r>
              <a:rPr lang="en-US" b="true" sz="30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"inconvenient" to "catastrophic."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139723" y="9038374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809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93004" y="849579"/>
            <a:ext cx="811530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REAL WORLD INSTANCE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5190" y="3281464"/>
            <a:ext cx="17237620" cy="485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Stuxnet (2010)</a:t>
            </a:r>
          </a:p>
          <a:p>
            <a:pPr algn="just">
              <a:lnSpc>
                <a:spcPts val="4339"/>
              </a:lnSpc>
            </a:pPr>
          </a:p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omp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worm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 </a:t>
            </a:r>
            <a:r>
              <a:rPr lang="en-US" sz="3099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exploited multiple zero-day vulnerabilities in Microsoft Windows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infiltrate and sabotage Siemens SCADA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ms co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lli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 c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rifuges at an Iranian nuclear 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enrichment fac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ility. It manipulated the centrifuges' speed controls to 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physical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ly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while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fee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din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false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"n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rm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 operation" data to plant monitoring systems</a:t>
            </a:r>
          </a:p>
          <a:p>
            <a:pPr algn="just">
              <a:lnSpc>
                <a:spcPts val="4339"/>
              </a:lnSpc>
            </a:pPr>
          </a:p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real ca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z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ero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-day attack causing real-w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rld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ph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cal damage to industrial infr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astr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ture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292591" y="9038374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8" y="0"/>
                </a:lnTo>
                <a:lnTo>
                  <a:pt x="1933418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61991" y="92392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285586" y="9449651"/>
            <a:ext cx="16545218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7" indent="-194308" lvl="1">
              <a:lnSpc>
                <a:spcPts val="2519"/>
              </a:lnSpc>
              <a:spcBef>
                <a:spcPct val="0"/>
              </a:spcBef>
              <a:buAutoNum type="arabicPeriod" startAt="1"/>
            </a:pP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Cybe</a:t>
            </a: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 Attacks on Maritime Assets and their Impacts on Health and Safety Aboard: A Holistic View, arXiv:2407.08406, 2024.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809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93004" y="849579"/>
            <a:ext cx="811530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5190" y="2605932"/>
            <a:ext cx="17237620" cy="6083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</a:p>
          <a:p>
            <a:pPr algn="l" marL="669285" indent="-334642" lvl="1">
              <a:lnSpc>
                <a:spcPts val="5672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Industrial IoT (IIoT) networks, spanning manufacturing, energy, healthcare, and utility infrastructure, are increasingly targeted by cyberattacks.</a:t>
            </a:r>
          </a:p>
          <a:p>
            <a:pPr algn="l" marL="669285" indent="-334642" lvl="1">
              <a:lnSpc>
                <a:spcPts val="5672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They 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remain protected largely by conventional IT-oriented security tools that don't account for their structural differences. 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  <a:r>
              <a:rPr lang="en-US" b="true" sz="30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Signature-based IDSs, the most widely deployed defense mechanism, are fundamentally blind to zero-day attacks: threats that exploit previously unknown vulnerabilities with no existing signature to match against.</a:t>
            </a:r>
          </a:p>
          <a:p>
            <a:pPr algn="just">
              <a:lnSpc>
                <a:spcPts val="433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806564" y="8935857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3"/>
                </a:lnTo>
                <a:lnTo>
                  <a:pt x="0" y="4398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809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541566"/>
            <a:ext cx="1230135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OBJECTIVES &amp; RESEARCH QUESTIONS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233738"/>
            <a:ext cx="15911199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5E17EB"/>
                </a:solidFill>
                <a:latin typeface="Canva Sans"/>
                <a:ea typeface="Canva Sans"/>
                <a:cs typeface="Canva Sans"/>
                <a:sym typeface="Canva Sans"/>
              </a:rPr>
              <a:t>Main Objective: </a:t>
            </a: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systematically investigate how K-Means clustering configurations and centroid-distance thresholds affect Zero-Day Detection Rate (Z-DR) and False Positive Rate (FPR)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840129"/>
            <a:ext cx="15911199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5E17EB"/>
                </a:solidFill>
                <a:latin typeface="Canva Sans"/>
                <a:ea typeface="Canva Sans"/>
                <a:cs typeface="Canva Sans"/>
                <a:sym typeface="Canva Sans"/>
              </a:rPr>
              <a:t>RQ1: </a:t>
            </a: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does the integration of centroid-distance-based outlier detection affect the Zero-Day Detection Rate (Z-DR) of a pre-trained deep learning classifier when identifying unseen malicious flows in a dynamic IIoT environment?</a:t>
            </a:r>
          </a:p>
          <a:p>
            <a:pPr algn="just">
              <a:lnSpc>
                <a:spcPts val="377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325883" y="1028700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922770"/>
            <a:ext cx="15911199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5E17EB"/>
                </a:solidFill>
                <a:latin typeface="Canva Sans"/>
                <a:ea typeface="Canva Sans"/>
                <a:cs typeface="Canva Sans"/>
                <a:sym typeface="Canva Sans"/>
              </a:rPr>
              <a:t>RQ2: </a:t>
            </a: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can the Z-DR\false-positive trade-off be balanced when based on distance threshold(d-min) and number of clusters (K), and therefore, what configuration best balances the two under a leave-one-class-out simulation on ToN-IoT?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381125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3" id="3"/>
          <p:cNvGraphicFramePr/>
          <p:nvPr/>
        </p:nvGraphicFramePr>
        <p:xfrm>
          <a:off x="751067" y="2056933"/>
          <a:ext cx="7543800" cy="1885950"/>
        </p:xfrm>
        <a:graphic>
          <a:graphicData uri="http://schemas.openxmlformats.org/presentationml/2006/ole">
            <p:oleObj imgW="9042400" imgH="3390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333375"/>
            <a:ext cx="1230135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REVIEW &amp; RESEARCH GAP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381125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3" id="3"/>
          <p:cNvGraphicFramePr/>
          <p:nvPr/>
        </p:nvGraphicFramePr>
        <p:xfrm>
          <a:off x="858200" y="2298673"/>
          <a:ext cx="7543800" cy="1885950"/>
        </p:xfrm>
        <a:graphic>
          <a:graphicData uri="http://schemas.openxmlformats.org/presentationml/2006/ole">
            <p:oleObj imgW="9042400" imgH="3390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333375"/>
            <a:ext cx="1230135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REVIEW &amp; RESEARCH GAP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11134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325883" y="9718469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082854"/>
            <a:ext cx="15993676" cy="5494545"/>
          </a:xfrm>
          <a:custGeom>
            <a:avLst/>
            <a:gdLst/>
            <a:ahLst/>
            <a:cxnLst/>
            <a:rect r="r" b="b" t="t" l="l"/>
            <a:pathLst>
              <a:path h="5494545" w="15993676">
                <a:moveTo>
                  <a:pt x="0" y="0"/>
                </a:moveTo>
                <a:lnTo>
                  <a:pt x="15993676" y="0"/>
                </a:lnTo>
                <a:lnTo>
                  <a:pt x="15993676" y="5494545"/>
                </a:lnTo>
                <a:lnTo>
                  <a:pt x="0" y="5494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42950"/>
            <a:ext cx="1230135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DESCRIPTION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30909"/>
            <a:ext cx="15993676" cy="1644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01"/>
              </a:lnSpc>
            </a:pPr>
            <a:r>
              <a:rPr lang="en-US" sz="3143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Selection:</a:t>
            </a:r>
            <a:r>
              <a:rPr lang="en-US" sz="31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Selected the </a:t>
            </a:r>
            <a:r>
              <a:rPr lang="en-US" sz="314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ToN-IoT Network Dataset</a:t>
            </a:r>
            <a:r>
              <a:rPr lang="en-US" sz="31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as the primary dataset because it contains diverse IIoT network attacks. (N. Moustafa et al. [1])</a:t>
            </a:r>
          </a:p>
          <a:p>
            <a:pPr algn="just">
              <a:lnSpc>
                <a:spcPts val="4401"/>
              </a:lnSpc>
            </a:pPr>
            <a:r>
              <a:rPr lang="en-US" sz="3143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Preprocessing: </a:t>
            </a:r>
            <a:r>
              <a:rPr lang="en-US" sz="31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Missing value check, duplicates removed, SMOTE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11134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325883" y="9718469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389810"/>
            <a:ext cx="13708378" cy="6768512"/>
          </a:xfrm>
          <a:custGeom>
            <a:avLst/>
            <a:gdLst/>
            <a:ahLst/>
            <a:cxnLst/>
            <a:rect r="r" b="b" t="t" l="l"/>
            <a:pathLst>
              <a:path h="6768512" w="13708378">
                <a:moveTo>
                  <a:pt x="0" y="0"/>
                </a:moveTo>
                <a:lnTo>
                  <a:pt x="13708378" y="0"/>
                </a:lnTo>
                <a:lnTo>
                  <a:pt x="13708378" y="6768511"/>
                </a:lnTo>
                <a:lnTo>
                  <a:pt x="0" y="67685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42950"/>
            <a:ext cx="1230135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DESCRIPTION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30909"/>
            <a:ext cx="15993676" cy="109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01"/>
              </a:lnSpc>
            </a:pPr>
            <a:r>
              <a:rPr lang="en-US" sz="3143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Selection:</a:t>
            </a:r>
            <a:r>
              <a:rPr lang="en-US" sz="31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Selected the </a:t>
            </a:r>
            <a:r>
              <a:rPr lang="en-US" sz="314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ToN-IoT Network Dataset</a:t>
            </a:r>
            <a:r>
              <a:rPr lang="en-US" sz="31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as the primary dataset because it contains diverse IIoT network attacks. (N. Moustafa et al. [1])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11134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325883" y="9718469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4898" y="1582468"/>
            <a:ext cx="16494402" cy="7979167"/>
          </a:xfrm>
          <a:custGeom>
            <a:avLst/>
            <a:gdLst/>
            <a:ahLst/>
            <a:cxnLst/>
            <a:rect r="r" b="b" t="t" l="l"/>
            <a:pathLst>
              <a:path h="7979167" w="16494402">
                <a:moveTo>
                  <a:pt x="0" y="0"/>
                </a:moveTo>
                <a:lnTo>
                  <a:pt x="16494402" y="0"/>
                </a:lnTo>
                <a:lnTo>
                  <a:pt x="16494402" y="7979167"/>
                </a:lnTo>
                <a:lnTo>
                  <a:pt x="0" y="79791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42950"/>
            <a:ext cx="1230135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 IMBALANCE HANDLING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11134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325883" y="9718469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42950"/>
            <a:ext cx="1230135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LEAVE ONE CLASS OUT (LOCO)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617242"/>
            <a:ext cx="16043871" cy="841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LOCO?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LOCO is used to simulate a zero-day scenario.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one known attack class is deliberately withheld from training and validation, and treated as if it were an unseen, novel attack during testing.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 marL="712467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99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it works?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⟶</a:t>
            </a:r>
            <a:r>
              <a:rPr lang="en-US" sz="28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</a:t>
            </a: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 chosen attack class is </a:t>
            </a: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completely removed from the training and validation sets</a:t>
            </a: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⟶</a:t>
            </a: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remaining classes are </a:t>
            </a: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split 80% training / 20% validation</a:t>
            </a: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⟶</a:t>
            </a: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withheld class becomes the</a:t>
            </a: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zero-day test pool</a:t>
            </a: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used only at </a:t>
            </a: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evaluation time</a:t>
            </a: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⟶</a:t>
            </a: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Both the ABi-GRU classifier and the K-Means clustering module are </a:t>
            </a: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trained without ever seeing this class.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 marL="712467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99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Classes?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⟶ DDoS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⟶ Ransomware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11134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325883" y="9718469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42950"/>
            <a:ext cx="1230135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42198" y="1773331"/>
            <a:ext cx="17232477" cy="9166837"/>
            <a:chOff x="0" y="0"/>
            <a:chExt cx="22976635" cy="12222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315699" cy="12201311"/>
            </a:xfrm>
            <a:custGeom>
              <a:avLst/>
              <a:gdLst/>
              <a:ahLst/>
              <a:cxnLst/>
              <a:rect r="r" b="b" t="t" l="l"/>
              <a:pathLst>
                <a:path h="12201311" w="17315699">
                  <a:moveTo>
                    <a:pt x="0" y="0"/>
                  </a:moveTo>
                  <a:lnTo>
                    <a:pt x="17315699" y="0"/>
                  </a:lnTo>
                  <a:lnTo>
                    <a:pt x="17315699" y="12201311"/>
                  </a:lnTo>
                  <a:lnTo>
                    <a:pt x="0" y="12201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590" r="-95396" b="-1059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7315699" y="21139"/>
              <a:ext cx="5660936" cy="12201311"/>
            </a:xfrm>
            <a:custGeom>
              <a:avLst/>
              <a:gdLst/>
              <a:ahLst/>
              <a:cxnLst/>
              <a:rect r="r" b="b" t="t" l="l"/>
              <a:pathLst>
                <a:path h="12201311" w="5660936">
                  <a:moveTo>
                    <a:pt x="0" y="0"/>
                  </a:moveTo>
                  <a:lnTo>
                    <a:pt x="5660936" y="0"/>
                  </a:lnTo>
                  <a:lnTo>
                    <a:pt x="5660936" y="12201311"/>
                  </a:lnTo>
                  <a:lnTo>
                    <a:pt x="0" y="12201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97679" t="-10590" r="0" b="-1059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11134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325883" y="9718469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31638" y="1841575"/>
            <a:ext cx="5456362" cy="4099648"/>
          </a:xfrm>
          <a:custGeom>
            <a:avLst/>
            <a:gdLst/>
            <a:ahLst/>
            <a:cxnLst/>
            <a:rect r="r" b="b" t="t" l="l"/>
            <a:pathLst>
              <a:path h="4099648" w="5456362">
                <a:moveTo>
                  <a:pt x="0" y="0"/>
                </a:moveTo>
                <a:lnTo>
                  <a:pt x="5456362" y="0"/>
                </a:lnTo>
                <a:lnTo>
                  <a:pt x="5456362" y="4099648"/>
                </a:lnTo>
                <a:lnTo>
                  <a:pt x="0" y="4099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681" t="-48668" r="-66719" b="-1408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74850" y="6100069"/>
            <a:ext cx="5569937" cy="3443801"/>
          </a:xfrm>
          <a:custGeom>
            <a:avLst/>
            <a:gdLst/>
            <a:ahLst/>
            <a:cxnLst/>
            <a:rect r="r" b="b" t="t" l="l"/>
            <a:pathLst>
              <a:path h="3443801" w="5569937">
                <a:moveTo>
                  <a:pt x="0" y="0"/>
                </a:moveTo>
                <a:lnTo>
                  <a:pt x="5569937" y="0"/>
                </a:lnTo>
                <a:lnTo>
                  <a:pt x="5569937" y="3443800"/>
                </a:lnTo>
                <a:lnTo>
                  <a:pt x="0" y="3443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676" t="-34189" r="-42512" b="-1063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42950"/>
            <a:ext cx="1230135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8930" y="2391820"/>
            <a:ext cx="11664649" cy="653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1"/>
              </a:lnSpc>
            </a:pPr>
            <a:r>
              <a:rPr lang="en-US" sz="2843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Base Classifier (ABi-GRU): </a:t>
            </a: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Implemented an </a:t>
            </a:r>
            <a:r>
              <a:rPr lang="en-US" sz="284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Attention-based Bidirectional GRU (ABi-GRU)</a:t>
            </a: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trained only on known attack classes. Used it to classify normal and known malicious network flows.</a:t>
            </a:r>
          </a:p>
          <a:p>
            <a:pPr algn="just">
              <a:lnSpc>
                <a:spcPts val="3981"/>
              </a:lnSpc>
            </a:pPr>
            <a:r>
              <a:rPr lang="en-US" sz="2843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K-Means Outlier Detection:</a:t>
            </a: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Trained K-Means on the balanced training data and selected the optimal K using the </a:t>
            </a:r>
            <a:r>
              <a:rPr lang="en-US" sz="284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Silhouette Score [2-10]</a:t>
            </a: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Calculated </a:t>
            </a:r>
            <a:r>
              <a:rPr lang="en-US" sz="284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Euclidean Distance</a:t>
            </a: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from each flow to its nearest cluster centroid and compared it with the centroid-distance threshold (</a:t>
            </a:r>
            <a:r>
              <a:rPr lang="en-US" sz="284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d_min</a:t>
            </a: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). Classified flows exceeding d_min as Zero-Day attacks.</a:t>
            </a:r>
          </a:p>
          <a:p>
            <a:pPr algn="just">
              <a:lnSpc>
                <a:spcPts val="3981"/>
              </a:lnSpc>
            </a:pPr>
            <a:r>
              <a:rPr lang="en-US" sz="2843" b="true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Parameter Optimization: </a:t>
            </a: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Performed a </a:t>
            </a:r>
            <a:r>
              <a:rPr lang="en-US" sz="284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parameter sweep</a:t>
            </a: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by varying </a:t>
            </a:r>
            <a:r>
              <a:rPr lang="en-US" sz="284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 and d_min</a:t>
            </a: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Compared different configurations to identify the optimal balance between detection performance and false alarms.</a:t>
            </a:r>
          </a:p>
          <a:p>
            <a:pPr algn="just">
              <a:lnSpc>
                <a:spcPts val="3981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11134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51405" y="9668528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8" y="0"/>
                </a:lnTo>
                <a:lnTo>
                  <a:pt x="1933418" y="439853"/>
                </a:lnTo>
                <a:lnTo>
                  <a:pt x="0" y="4398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04032" y="6426816"/>
            <a:ext cx="6301408" cy="3301271"/>
          </a:xfrm>
          <a:custGeom>
            <a:avLst/>
            <a:gdLst/>
            <a:ahLst/>
            <a:cxnLst/>
            <a:rect r="r" b="b" t="t" l="l"/>
            <a:pathLst>
              <a:path h="3301271" w="6301408">
                <a:moveTo>
                  <a:pt x="0" y="0"/>
                </a:moveTo>
                <a:lnTo>
                  <a:pt x="6301407" y="0"/>
                </a:lnTo>
                <a:lnTo>
                  <a:pt x="6301407" y="3301271"/>
                </a:lnTo>
                <a:lnTo>
                  <a:pt x="0" y="3301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48" t="-47754" r="-4801" b="-4486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42950"/>
            <a:ext cx="1230135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ABI-GRU CLASSIFIER</a:t>
            </a:r>
          </a:p>
          <a:p>
            <a:pPr algn="l">
              <a:lnSpc>
                <a:spcPts val="54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51405" y="6758686"/>
            <a:ext cx="11670982" cy="2499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3157" indent="-306578" lvl="1">
              <a:lnSpc>
                <a:spcPts val="3976"/>
              </a:lnSpc>
              <a:buFont typeface="Arial"/>
              <a:buChar char="•"/>
            </a:pPr>
            <a:r>
              <a:rPr lang="en-US" b="true" sz="2840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Implemented using PyTorch</a:t>
            </a:r>
          </a:p>
          <a:p>
            <a:pPr algn="just" marL="613157" indent="-306578" lvl="1">
              <a:lnSpc>
                <a:spcPts val="3976"/>
              </a:lnSpc>
              <a:buFont typeface="Arial"/>
              <a:buChar char="•"/>
            </a:pPr>
            <a:r>
              <a:rPr lang="en-US" b="true" sz="2840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Trained under LOCO protocol</a:t>
            </a:r>
          </a:p>
          <a:p>
            <a:pPr algn="just" marL="613157" indent="-306578" lvl="1">
              <a:lnSpc>
                <a:spcPts val="3976"/>
              </a:lnSpc>
              <a:buFont typeface="Arial"/>
              <a:buChar char="•"/>
            </a:pPr>
            <a:r>
              <a:rPr lang="en-US" b="true" sz="2840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Outputs attack probability </a:t>
            </a:r>
          </a:p>
          <a:p>
            <a:pPr algn="just" marL="613157" indent="-306578" lvl="1">
              <a:lnSpc>
                <a:spcPts val="3976"/>
              </a:lnSpc>
              <a:buFont typeface="Arial"/>
              <a:buChar char="•"/>
            </a:pPr>
            <a:r>
              <a:rPr lang="en-US" b="true" sz="2840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Probability forwarded to Decision Fusion</a:t>
            </a:r>
          </a:p>
          <a:p>
            <a:pPr algn="just">
              <a:lnSpc>
                <a:spcPts val="397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51405" y="1833939"/>
            <a:ext cx="17196695" cy="401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6"/>
              </a:lnSpc>
            </a:pPr>
            <a:r>
              <a:rPr lang="en-US" b="true" sz="284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A: An attention mechanism</a:t>
            </a:r>
            <a:r>
              <a:rPr lang="en-US" sz="284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that helps the model focus on the most </a:t>
            </a:r>
            <a:r>
              <a:rPr lang="en-US" b="true" sz="284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important</a:t>
            </a:r>
            <a:r>
              <a:rPr lang="en-US" sz="284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parts of the input instead of treating all features equally.</a:t>
            </a:r>
          </a:p>
          <a:p>
            <a:pPr algn="l">
              <a:lnSpc>
                <a:spcPts val="3976"/>
              </a:lnSpc>
            </a:pPr>
            <a:r>
              <a:rPr lang="en-US" b="true" sz="284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 – Bidirectional:</a:t>
            </a:r>
            <a:r>
              <a:rPr lang="en-US" sz="284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GRU processes the input sequence in both </a:t>
            </a:r>
            <a:r>
              <a:rPr lang="en-US" b="true" sz="284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forward and backward</a:t>
            </a:r>
            <a:r>
              <a:rPr lang="en-US" sz="284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directions. This allows the model to learn from both past and future context within the sequence.</a:t>
            </a:r>
          </a:p>
          <a:p>
            <a:pPr algn="l">
              <a:lnSpc>
                <a:spcPts val="3976"/>
              </a:lnSpc>
            </a:pPr>
            <a:r>
              <a:rPr lang="en-US" b="true" sz="284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GRU – Gated Recurrent Unit</a:t>
            </a:r>
            <a:r>
              <a:rPr lang="en-US" sz="284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A type of Recurrent Neural Network (RNN) designed to process sequential data. Uses gating mechanisms (</a:t>
            </a:r>
            <a:r>
              <a:rPr lang="en-US" b="true" sz="284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update gate and reset gate</a:t>
            </a:r>
            <a:r>
              <a:rPr lang="en-US" sz="284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 to remember important information and reduce the </a:t>
            </a:r>
            <a:r>
              <a:rPr lang="en-US" b="true" sz="284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vanishing gradient problem</a:t>
            </a:r>
            <a:r>
              <a:rPr lang="en-US" sz="284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</a:p>
          <a:p>
            <a:pPr algn="l">
              <a:lnSpc>
                <a:spcPts val="3976"/>
              </a:lnSpc>
            </a:pPr>
            <a:r>
              <a:rPr lang="en-US" sz="284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has fewer parameters than an </a:t>
            </a:r>
            <a:r>
              <a:rPr lang="en-US" b="true" sz="284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LSTM</a:t>
            </a:r>
            <a:r>
              <a:rPr lang="en-US" sz="284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making it faster and more lightweight.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11134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742950"/>
            <a:ext cx="1230135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MINIBATCH K-MEANS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325883" y="9718469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9650" y="2049959"/>
            <a:ext cx="15596071" cy="7547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1"/>
              </a:lnSpc>
            </a:pPr>
          </a:p>
          <a:p>
            <a:pPr algn="just" marL="613965" indent="-306982" lvl="1">
              <a:lnSpc>
                <a:spcPts val="3981"/>
              </a:lnSpc>
              <a:buFont typeface="Arial"/>
              <a:buChar char="•"/>
            </a:pPr>
            <a:r>
              <a:rPr lang="en-US" b="true" sz="2843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Standard K-Means Limitation</a:t>
            </a:r>
          </a:p>
          <a:p>
            <a:pPr algn="just" marL="1227929" indent="-409310" lvl="2">
              <a:lnSpc>
                <a:spcPts val="3981"/>
              </a:lnSpc>
              <a:buFont typeface="Arial"/>
              <a:buChar char="⚬"/>
            </a:pP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Computes distance from every sample to every centroid in each iteration.</a:t>
            </a:r>
          </a:p>
          <a:p>
            <a:pPr algn="just" marL="1227929" indent="-409310" lvl="2">
              <a:lnSpc>
                <a:spcPts val="3981"/>
              </a:lnSpc>
              <a:buFont typeface="Arial"/>
              <a:buChar char="⚬"/>
            </a:pP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Computationally expensive for large datasets.</a:t>
            </a:r>
          </a:p>
          <a:p>
            <a:pPr algn="just" marL="613965" indent="-306982" lvl="1">
              <a:lnSpc>
                <a:spcPts val="3981"/>
              </a:lnSpc>
              <a:buFont typeface="Arial"/>
              <a:buChar char="•"/>
            </a:pPr>
            <a:r>
              <a:rPr lang="en-US" b="true" sz="2843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Size</a:t>
            </a:r>
          </a:p>
          <a:p>
            <a:pPr algn="just" marL="1227929" indent="-409310" lvl="2">
              <a:lnSpc>
                <a:spcPts val="3981"/>
              </a:lnSpc>
              <a:buFont typeface="Arial"/>
              <a:buChar char="⚬"/>
            </a:pP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SMOTE-resampled training data (X_train_resampled) contains </a:t>
            </a:r>
            <a:r>
              <a:rPr lang="en-US" b="true" sz="28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302,688</a:t>
            </a: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instances.</a:t>
            </a:r>
          </a:p>
          <a:p>
            <a:pPr algn="just" marL="613965" indent="-306982" lvl="1">
              <a:lnSpc>
                <a:spcPts val="3981"/>
              </a:lnSpc>
              <a:buFont typeface="Arial"/>
              <a:buChar char="•"/>
            </a:pPr>
            <a:r>
              <a:rPr lang="en-US" b="true" sz="2843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MiniBatchKMeans?</a:t>
            </a:r>
          </a:p>
          <a:p>
            <a:pPr algn="just" marL="1227929" indent="-409310" lvl="2">
              <a:lnSpc>
                <a:spcPts val="3981"/>
              </a:lnSpc>
              <a:buFont typeface="Arial"/>
              <a:buChar char="⚬"/>
            </a:pP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Processes data in mini-batches (batch size = </a:t>
            </a:r>
            <a:r>
              <a:rPr lang="en-US" b="true" sz="28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1,000</a:t>
            </a: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 instead of the full dataset.</a:t>
            </a:r>
          </a:p>
          <a:p>
            <a:pPr algn="just" marL="1227929" indent="-409310" lvl="2">
              <a:lnSpc>
                <a:spcPts val="3981"/>
              </a:lnSpc>
              <a:buFont typeface="Arial"/>
              <a:buChar char="⚬"/>
            </a:pPr>
            <a:r>
              <a:rPr lang="en-US" b="true" sz="28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Reduces computation</a:t>
            </a: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time and </a:t>
            </a:r>
            <a:r>
              <a:rPr lang="en-US" b="true" sz="28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memory usage.</a:t>
            </a:r>
          </a:p>
          <a:p>
            <a:pPr algn="just" marL="1227929" indent="-409310" lvl="2">
              <a:lnSpc>
                <a:spcPts val="3981"/>
              </a:lnSpc>
              <a:buFont typeface="Arial"/>
              <a:buChar char="⚬"/>
            </a:pP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Achieves much </a:t>
            </a:r>
            <a:r>
              <a:rPr lang="en-US" b="true" sz="28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faster convergence</a:t>
            </a: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just" marL="613965" indent="-306982" lvl="1">
              <a:lnSpc>
                <a:spcPts val="3981"/>
              </a:lnSpc>
              <a:buFont typeface="Arial"/>
              <a:buChar char="•"/>
            </a:pPr>
            <a:r>
              <a:rPr lang="en-US" b="true" sz="2843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Trade-off</a:t>
            </a:r>
          </a:p>
          <a:p>
            <a:pPr algn="just" marL="1227929" indent="-409310" lvl="2">
              <a:lnSpc>
                <a:spcPts val="3981"/>
              </a:lnSpc>
              <a:buFont typeface="Arial"/>
              <a:buChar char="⚬"/>
            </a:pP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Slightly lower clustering </a:t>
            </a:r>
            <a:r>
              <a:rPr lang="en-US" b="true" sz="28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precision</a:t>
            </a: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than standard K-Means.</a:t>
            </a:r>
          </a:p>
          <a:p>
            <a:pPr algn="just" marL="1227929" indent="-409310" lvl="2">
              <a:lnSpc>
                <a:spcPts val="3981"/>
              </a:lnSpc>
              <a:buFont typeface="Arial"/>
              <a:buChar char="⚬"/>
            </a:pP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Significant improvement in </a:t>
            </a:r>
            <a:r>
              <a:rPr lang="en-US" b="true" sz="284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efficiency</a:t>
            </a: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makes it suitable for large-scale datasets.</a:t>
            </a:r>
          </a:p>
          <a:p>
            <a:pPr algn="just">
              <a:lnSpc>
                <a:spcPts val="3981"/>
              </a:lnSpc>
            </a:pPr>
          </a:p>
          <a:p>
            <a:pPr algn="just">
              <a:lnSpc>
                <a:spcPts val="3981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11134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325883" y="9718469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9650" y="2030909"/>
            <a:ext cx="10577950" cy="740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39"/>
              </a:lnSpc>
            </a:pPr>
          </a:p>
          <a:p>
            <a:pPr algn="just" marL="761753" indent="-380877" lvl="1">
              <a:lnSpc>
                <a:spcPts val="4939"/>
              </a:lnSpc>
              <a:buFont typeface="Arial"/>
              <a:buChar char="•"/>
            </a:pPr>
            <a:r>
              <a:rPr lang="en-US" b="true" sz="3528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Accur</a:t>
            </a:r>
            <a:r>
              <a:rPr lang="en-US" b="true" sz="3528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acy, Precision, Recall, and F1-score </a:t>
            </a:r>
            <a:r>
              <a:rPr lang="en-US" sz="35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evaluate how well the ABi-GRU classifies known attacks.</a:t>
            </a:r>
          </a:p>
          <a:p>
            <a:pPr algn="just" marL="761753" indent="-380877" lvl="1">
              <a:lnSpc>
                <a:spcPts val="4939"/>
              </a:lnSpc>
              <a:buFont typeface="Arial"/>
              <a:buChar char="•"/>
            </a:pPr>
            <a:r>
              <a:rPr lang="en-US" b="true" sz="3528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Z-</a:t>
            </a:r>
            <a:r>
              <a:rPr lang="en-US" b="true" sz="3528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 and FPR </a:t>
            </a:r>
            <a:r>
              <a:rPr lang="en-US" sz="35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specifically evaluate Zero-Day detection, since unknown attacks cannot be measured using normal classification metrics.</a:t>
            </a:r>
          </a:p>
          <a:p>
            <a:pPr algn="just" marL="761753" indent="-380877" lvl="1">
              <a:lnSpc>
                <a:spcPts val="4939"/>
              </a:lnSpc>
              <a:buFont typeface="Arial"/>
              <a:buChar char="•"/>
            </a:pPr>
            <a:r>
              <a:rPr lang="en-US" b="true" sz="3528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Combined F1 </a:t>
            </a:r>
            <a:r>
              <a:rPr lang="en-US" sz="35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helps select the best anomaly detection threshold by balancing detection capability and false alarms.</a:t>
            </a:r>
          </a:p>
          <a:p>
            <a:pPr algn="just">
              <a:lnSpc>
                <a:spcPts val="493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893557" y="3693756"/>
            <a:ext cx="5966343" cy="4147539"/>
          </a:xfrm>
          <a:custGeom>
            <a:avLst/>
            <a:gdLst/>
            <a:ahLst/>
            <a:cxnLst/>
            <a:rect r="r" b="b" t="t" l="l"/>
            <a:pathLst>
              <a:path h="4147539" w="5966343">
                <a:moveTo>
                  <a:pt x="0" y="0"/>
                </a:moveTo>
                <a:lnTo>
                  <a:pt x="5966342" y="0"/>
                </a:lnTo>
                <a:lnTo>
                  <a:pt x="5966342" y="4147539"/>
                </a:lnTo>
                <a:lnTo>
                  <a:pt x="0" y="4147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958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42950"/>
            <a:ext cx="1230135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EVALUATION METRICS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809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541566"/>
            <a:ext cx="1230135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ANALYSIS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325883" y="9258300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129059"/>
            <a:ext cx="2432377" cy="108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8799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01.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897980"/>
            <a:ext cx="2432377" cy="108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8799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02.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90447" y="3824259"/>
            <a:ext cx="8149308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does integrating centroid-distance-based outlier detection affect the Z-DR of a pre-trained deep l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earning classifier in dynamic IIoT environments?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04722" y="6305839"/>
            <a:ext cx="8149308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can the trade-off between Z-DR and FPR be optimized through the selec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tion of the distance threshold (d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min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​) and the number of clusters (K)?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3230" y="2758093"/>
            <a:ext cx="8487470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 Questions, as aforementioned: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02105" y="3544374"/>
            <a:ext cx="4475559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Parametric Variables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02105" y="4340180"/>
            <a:ext cx="394801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K values</a:t>
            </a:r>
          </a:p>
          <a:p>
            <a:pPr algn="l" marL="604516" indent="-302258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d_min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02105" y="5974859"/>
            <a:ext cx="4556624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Evaluation Metrics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02105" y="6774325"/>
            <a:ext cx="3948011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Z-DR</a:t>
            </a:r>
          </a:p>
          <a:p>
            <a:pPr algn="l" marL="604516" indent="-302258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FPR</a:t>
            </a:r>
          </a:p>
          <a:p>
            <a:pPr algn="l" marL="604516" indent="-302258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Combined F1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809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325883" y="9258300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2148298"/>
            <a:ext cx="7732112" cy="6877931"/>
          </a:xfrm>
          <a:custGeom>
            <a:avLst/>
            <a:gdLst/>
            <a:ahLst/>
            <a:cxnLst/>
            <a:rect r="r" b="b" t="t" l="l"/>
            <a:pathLst>
              <a:path h="6877931" w="7732112">
                <a:moveTo>
                  <a:pt x="0" y="0"/>
                </a:moveTo>
                <a:lnTo>
                  <a:pt x="7732112" y="0"/>
                </a:lnTo>
                <a:lnTo>
                  <a:pt x="7732112" y="6877931"/>
                </a:lnTo>
                <a:lnTo>
                  <a:pt x="0" y="68779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541566"/>
            <a:ext cx="1230135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96426"/>
            <a:ext cx="7493074" cy="5734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5E17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Known classes (backdoor, DoS, normal, and password traffic):</a:t>
            </a:r>
          </a:p>
          <a:p>
            <a:pPr algn="l" marL="1295390" indent="-431797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Overall 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accuracy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of the classifier = 94%</a:t>
            </a:r>
          </a:p>
          <a:p>
            <a:pPr algn="l" marL="1295390" indent="-431797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Macro-average 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F1-score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= 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0.88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MITM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being the 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worst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class in both runs </a:t>
            </a:r>
          </a:p>
          <a:p>
            <a:pPr algn="l" marL="1295390" indent="-431797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Precision = 0.25</a:t>
            </a:r>
          </a:p>
          <a:p>
            <a:pPr algn="l" marL="1295390" indent="-431797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ecall = 0.87</a:t>
            </a:r>
          </a:p>
          <a:p>
            <a:pPr algn="l" marL="1295390" indent="-431797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F1 = 0.39 </a:t>
            </a:r>
          </a:p>
          <a:p>
            <a:pPr algn="just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809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325883" y="9258300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25308" y="2172896"/>
            <a:ext cx="11633992" cy="6257581"/>
          </a:xfrm>
          <a:custGeom>
            <a:avLst/>
            <a:gdLst/>
            <a:ahLst/>
            <a:cxnLst/>
            <a:rect r="r" b="b" t="t" l="l"/>
            <a:pathLst>
              <a:path h="6257581" w="11633992">
                <a:moveTo>
                  <a:pt x="0" y="0"/>
                </a:moveTo>
                <a:lnTo>
                  <a:pt x="11633992" y="0"/>
                </a:lnTo>
                <a:lnTo>
                  <a:pt x="11633992" y="6257580"/>
                </a:lnTo>
                <a:lnTo>
                  <a:pt x="0" y="62575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541566"/>
            <a:ext cx="1230135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96426"/>
            <a:ext cx="4596608" cy="6257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Alone, the base classifier cannot output detection as 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unknown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With clustering, at K=3 and d_min = 5.0, the pipeline flags 26.37% of 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DDoS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ABi-GRU ⟶ Misclassified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8097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325883" y="9258300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25308" y="2414760"/>
            <a:ext cx="11633992" cy="6257581"/>
          </a:xfrm>
          <a:custGeom>
            <a:avLst/>
            <a:gdLst/>
            <a:ahLst/>
            <a:cxnLst/>
            <a:rect r="r" b="b" t="t" l="l"/>
            <a:pathLst>
              <a:path h="6257581" w="11633992">
                <a:moveTo>
                  <a:pt x="0" y="0"/>
                </a:moveTo>
                <a:lnTo>
                  <a:pt x="11633992" y="0"/>
                </a:lnTo>
                <a:lnTo>
                  <a:pt x="11633992" y="6257580"/>
                </a:lnTo>
                <a:lnTo>
                  <a:pt x="0" y="62575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541566"/>
            <a:ext cx="1230135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0673" y="2819993"/>
            <a:ext cx="4874635" cy="311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ransomware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1295390" indent="-431797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Detected some as outliers</a:t>
            </a:r>
          </a:p>
          <a:p>
            <a:pPr algn="l" marL="1295390" indent="-431797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Z-DR low across all configurations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11134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465844"/>
            <a:ext cx="8560245" cy="6393094"/>
          </a:xfrm>
          <a:custGeom>
            <a:avLst/>
            <a:gdLst/>
            <a:ahLst/>
            <a:cxnLst/>
            <a:rect r="r" b="b" t="t" l="l"/>
            <a:pathLst>
              <a:path h="6393094" w="8560245">
                <a:moveTo>
                  <a:pt x="0" y="0"/>
                </a:moveTo>
                <a:lnTo>
                  <a:pt x="8560245" y="0"/>
                </a:lnTo>
                <a:lnTo>
                  <a:pt x="8560245" y="6393095"/>
                </a:lnTo>
                <a:lnTo>
                  <a:pt x="0" y="63930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6143" y="2631243"/>
            <a:ext cx="8338779" cy="6227696"/>
          </a:xfrm>
          <a:custGeom>
            <a:avLst/>
            <a:gdLst/>
            <a:ahLst/>
            <a:cxnLst/>
            <a:rect r="r" b="b" t="t" l="l"/>
            <a:pathLst>
              <a:path h="6227696" w="8338779">
                <a:moveTo>
                  <a:pt x="0" y="0"/>
                </a:moveTo>
                <a:lnTo>
                  <a:pt x="8338779" y="0"/>
                </a:lnTo>
                <a:lnTo>
                  <a:pt x="8338779" y="6227696"/>
                </a:lnTo>
                <a:lnTo>
                  <a:pt x="0" y="6227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42950"/>
            <a:ext cx="1230135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704409"/>
            <a:ext cx="16675545" cy="101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does the </a:t>
            </a:r>
            <a:r>
              <a:rPr lang="en-US" sz="2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K-value 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affect the Z-DR and FPR? </a:t>
            </a:r>
            <a:r>
              <a:rPr lang="en-US" sz="2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⟶ 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Effect depends greatly on the zero-day attack type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47691" y="8923020"/>
            <a:ext cx="2474218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400" spc="44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Ransomware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89234" y="8887514"/>
            <a:ext cx="1069777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400" spc="44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DDoS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11134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863607" y="2466410"/>
            <a:ext cx="10395693" cy="5591536"/>
          </a:xfrm>
          <a:custGeom>
            <a:avLst/>
            <a:gdLst/>
            <a:ahLst/>
            <a:cxnLst/>
            <a:rect r="r" b="b" t="t" l="l"/>
            <a:pathLst>
              <a:path h="5591536" w="10395693">
                <a:moveTo>
                  <a:pt x="0" y="0"/>
                </a:moveTo>
                <a:lnTo>
                  <a:pt x="10395693" y="0"/>
                </a:lnTo>
                <a:lnTo>
                  <a:pt x="10395693" y="5591536"/>
                </a:lnTo>
                <a:lnTo>
                  <a:pt x="0" y="5591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42950"/>
            <a:ext cx="1230135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704409"/>
            <a:ext cx="10713203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does the </a:t>
            </a:r>
            <a:r>
              <a:rPr lang="en-US" sz="2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d_min 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threshold affect the Z-DR and FPR?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04794" y="8353221"/>
            <a:ext cx="2474218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400" spc="44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Ransomware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086225"/>
            <a:ext cx="5834907" cy="206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 d_min increases: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Z-DR decreases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FPR increases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11134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179376" y="2466410"/>
            <a:ext cx="10334462" cy="7205865"/>
          </a:xfrm>
          <a:custGeom>
            <a:avLst/>
            <a:gdLst/>
            <a:ahLst/>
            <a:cxnLst/>
            <a:rect r="r" b="b" t="t" l="l"/>
            <a:pathLst>
              <a:path h="7205865" w="10334462">
                <a:moveTo>
                  <a:pt x="0" y="0"/>
                </a:moveTo>
                <a:lnTo>
                  <a:pt x="10334462" y="0"/>
                </a:lnTo>
                <a:lnTo>
                  <a:pt x="10334462" y="7205865"/>
                </a:lnTo>
                <a:lnTo>
                  <a:pt x="0" y="7205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42950"/>
            <a:ext cx="1230135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704409"/>
            <a:ext cx="10713203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is the best configuration found?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21974"/>
            <a:ext cx="5834907" cy="311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values between ransomware and DDoS </a:t>
            </a: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 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greatly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Reason mainly point to the feature overlapping of the dataset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686534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743559"/>
            <a:ext cx="811530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LIMITATION AND FUTURE 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158472"/>
            <a:ext cx="15655547" cy="363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 dimensional feature space ⟶ distance concentration in clusters</a:t>
            </a:r>
          </a:p>
          <a:p>
            <a:pPr algn="l" marL="1295397" indent="-431799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more the features, the lesser the difference between normal and zero-day flows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Only two LOCO splits were evaluated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Decision fusion module is not fully integrated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ToN-IoT is a simulated dataset</a:t>
            </a:r>
          </a:p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SMOTE in theory solves the data imbalance, however, it also raises confusion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325883" y="3235915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686534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076934"/>
            <a:ext cx="811530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DISCUSSION AND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158472"/>
            <a:ext cx="5492115" cy="154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Standard, supervised classifiers cannot detect unknown attacks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325883" y="3235915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143624"/>
            <a:ext cx="5492115" cy="311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Solution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An empirical evaluation framework combining ABi-GRU with a MiniBatchKMeans centroid-distance-based outlier detection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98906" y="4158472"/>
            <a:ext cx="7932574" cy="4686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Findings: 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With K-Means clustering, DDoS performed significantly better than ransomware, where the fundamental bottleneck for both is the overlap in the feature space, leading to no clean separation. 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Centroid distance-based detection is attack-type dependent, so it is limited due to the high dimensionality of the dataset.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397238" y="132499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468843" y="677293"/>
            <a:ext cx="81153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REFERENCES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4054" y="1728787"/>
            <a:ext cx="16230600" cy="8353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[1]      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A. Touré, Y. Imine, A. Semnont, T. Delot, and A. Gallais, "A framework for detecting zero-day exploits in network flows," Comput. Netw., vol. 248, Art. no. 110476, May 2024, doi: 10.1016/j.comnet.2024.110476 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[2]      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M. Soltani, B. Ousat, M. J. Siavoshani, and A. H. Jahangir, “An adaptable deep learning-based intrusion detection system to zero-day attacks,” Journal of Information Security and Applications, vol. 76, p. 103516, Jun. 2023, doi: 10.1016/j.jisa.2023.103516. 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[3]       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R. Duraz, D. Espes, J. Francq, and S. Vaton, “SECL: a Zero-Day attack detector and classifier based on contrastive learning and strong regularization,” ACM, pp. 1–12, Jul. 2024, doi: 10.1145/3664476.3664505.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[4]        </a:t>
            </a: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Sarhan, M., Layeghy, S., Gallagher, M. et al. From zero-shot machine learning to zero-day attack detection. Int. J. Inf. Secur. 22, 947–959 (2023). </a:t>
            </a:r>
            <a:r>
              <a:rPr lang="en-US" sz="29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doi.org/10.1007/s10207-023-00676-0"/>
              </a:rPr>
              <a:t>https://doi.org/10.1007/s10207-023-00676-0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947945" y="9114408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8" y="0"/>
                </a:lnTo>
                <a:lnTo>
                  <a:pt x="1933418" y="439853"/>
                </a:lnTo>
                <a:lnTo>
                  <a:pt x="0" y="4398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661517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33475" y="1028700"/>
            <a:ext cx="990588" cy="830856"/>
          </a:xfrm>
          <a:custGeom>
            <a:avLst/>
            <a:gdLst/>
            <a:ahLst/>
            <a:cxnLst/>
            <a:rect r="r" b="b" t="t" l="l"/>
            <a:pathLst>
              <a:path h="830856" w="990588">
                <a:moveTo>
                  <a:pt x="0" y="0"/>
                </a:moveTo>
                <a:lnTo>
                  <a:pt x="990588" y="0"/>
                </a:lnTo>
                <a:lnTo>
                  <a:pt x="990588" y="830856"/>
                </a:lnTo>
                <a:lnTo>
                  <a:pt x="0" y="830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19288" y="4897947"/>
            <a:ext cx="14249423" cy="1723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34"/>
              </a:lnSpc>
            </a:pPr>
            <a:r>
              <a:rPr lang="en-US" b="true" sz="14037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41683" y="1273456"/>
            <a:ext cx="581504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Asian University for Women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82215" y="1235356"/>
            <a:ext cx="377708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 Aug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9288" y="6436738"/>
            <a:ext cx="14249423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600" spc="4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ANY QUESTIONS?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684799" y="3473909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8" y="0"/>
                </a:lnTo>
                <a:lnTo>
                  <a:pt x="1933418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85071" y="7146035"/>
            <a:ext cx="1933417" cy="439852"/>
          </a:xfrm>
          <a:custGeom>
            <a:avLst/>
            <a:gdLst/>
            <a:ahLst/>
            <a:cxnLst/>
            <a:rect r="r" b="b" t="t" l="l"/>
            <a:pathLst>
              <a:path h="439852" w="1933417">
                <a:moveTo>
                  <a:pt x="0" y="0"/>
                </a:moveTo>
                <a:lnTo>
                  <a:pt x="1933417" y="0"/>
                </a:lnTo>
                <a:lnTo>
                  <a:pt x="1933417" y="439852"/>
                </a:lnTo>
                <a:lnTo>
                  <a:pt x="0" y="4398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DAHQx1oLP_g</dc:identifier>
  <dcterms:modified xsi:type="dcterms:W3CDTF">2011-08-01T06:04:30Z</dcterms:modified>
  <cp:revision>1</cp:revision>
  <dc:title>Cyber Presentation Group 3</dc:title>
</cp:coreProperties>
</file>